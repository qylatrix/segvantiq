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71" r:id="rId3"/>
    <p:sldId id="257" r:id="rId4"/>
    <p:sldId id="269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6A347E-93DD-95A8-2EC0-6417A52824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40697-8BAF-54AA-58F5-19490E4201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43BC0-05FD-4157-BB08-9110D0FA2938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5A78-B044-25B2-E302-82C1ABC016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F188-7392-30E0-9C68-C22E7B44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28F6-D831-4109-A535-40EEE2C46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77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DF442-6BF1-40B0-B09B-002E294349C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FF20E-A4FF-4B1E-8D7C-AAB5FC19D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809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0BBE50A-B0EC-46F8-B923-38EFF594C813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8711-9D56-4F06-B094-36E813261168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88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548C-C71D-4999-843A-12A67BDCAA1E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62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93E2-797B-4F72-A468-A8761827DA21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41BF-6170-43F7-A0C6-BECBB94CE685}" type="datetime1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1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4402-7FE3-4276-BA70-08F6EA182AC2}" type="datetime1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26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C901-A021-402B-950A-2EFA03B50B3E}" type="datetime1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62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A00F-1A9F-4ED3-B2ED-21DA5893B2E3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73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B5D1-D2EB-4C28-A60B-3EB444A21C44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39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4199F-BB54-4FE2-B4AF-ACF2E1653A21}" type="datetime1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1373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2F93-CE89-46FE-BCF6-DC2D0DF10321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27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1DA6-10BF-42DB-87AF-9A60519A3E26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131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ED30-F721-4EC4-AE13-FB7D90E2EDEA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74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A8005-E39B-43B8-8F56-8D2E90A141C6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08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0F8B-CD39-4304-B6CA-310DC962DA84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377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644DC-EB5C-4C19-BA3F-555A181D21CD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415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BA1D-1EAA-471C-9F4F-1CAB7274BEA8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6667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14199F-BB54-4FE2-B4AF-ACF2E1653A21}" type="datetime1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Name of the Presenter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3A7760-0D43-4C9A-BE83-E3B46CD27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00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6B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80" y="228600"/>
            <a:ext cx="116586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914400"/>
            <a:ext cx="1127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SEGVANTIQ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657600" cy="64008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1082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8C8"/>
                </a:solidFill>
                <a:latin typeface="Calibri"/>
              </a:rPr>
              <a:t>AI-Powered Customer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1082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Internship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75888"/>
            <a:ext cx="1082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Presented by: Pretam Saha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59936"/>
            <a:ext cx="1082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Registration No.: 23BBCCCE111  |  Batch: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43984"/>
            <a:ext cx="1082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Organisation: TCS iON  |  April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5920" y="5760720"/>
            <a:ext cx="2743200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736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8C8"/>
                </a:solidFill>
                <a:latin typeface="Calibri"/>
              </a:rPr>
              <a:t>Batch 10  |  Reg: 23BBCCCE111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7360" y="6126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TCS iON Internship  •  April 2026</a:t>
            </a:r>
          </a:p>
        </p:txBody>
      </p:sp>
    </p:spTree>
    <p:extLst>
      <p:ext uri="{BB962C8B-B14F-4D97-AF65-F5344CB8AC3E}">
        <p14:creationId xmlns:p14="http://schemas.microsoft.com/office/powerpoint/2010/main" val="128362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77724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01  →  About the Organisation (TCS 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9728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02  →  Project Overview — SEGVANTIQ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1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03  →  Problem Statement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3736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04  →  Technologies &amp; Tools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5740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05  → 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06  →  Key Features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9748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07  →  ML Models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1752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08  →  Weekly Progress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3756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09  →  Challenges &amp;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65760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10  →  Results &amp;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97763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11  →  Future Roadmap (Phase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29767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12  →  Conclusion</a:t>
            </a:r>
          </a:p>
        </p:txBody>
      </p:sp>
    </p:spTree>
    <p:extLst>
      <p:ext uri="{BB962C8B-B14F-4D97-AF65-F5344CB8AC3E}">
        <p14:creationId xmlns:p14="http://schemas.microsoft.com/office/powerpoint/2010/main" val="39311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About the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944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8C8"/>
                </a:solidFill>
                <a:latin typeface="Calibri"/>
              </a:rPr>
              <a:t>TCS iON — Tata Consultancy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8" name="Picture 7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77724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TCS iON is the SMB business unit of Tata Consultancy Services (TCS), India's largest IT company.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Delivers technology-driven business solutions for the Education, Government, and Enterprise sector.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1731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Operates across 50+ countries with 600,000+ employees globally.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Key Services: Cloud-based ERP, Skill Assessment, Digital Learning, and Data Analytics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Internship Focus: Data Analytics &amp; Business Intelligence — Customer Segmentation using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04620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24D4-866F-2366-AFDA-3E636D1E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Overview — SEGVANTIQ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SEGVANTIQ is a multi-tenant, enterprise-grade AI analytics platform designed to transform raw customer sales data into actionable business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23443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Built under the Qylatrix brand, the platform provides: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Automated customer segmentation (K-Means)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1051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Lifetime value prediction (CLV Forecasting)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1226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Churn risk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1401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AI-powered business chat (Qyla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Market Basket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Cohort and RFM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604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Platform Type:  SaaS Web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040" y="109728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Framework:      Streamlit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040" y="137160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Backend:        Python 3.13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6040" y="164592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Auth:           bcrypt + JWT-ready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192024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ML Engine:      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1945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Charts:         Plotly, Seaborn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6040" y="246887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Isolation:      Per-tenant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040" y="274319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Modules:        12 Analytics dashboards</a:t>
            </a:r>
          </a:p>
        </p:txBody>
      </p:sp>
    </p:spTree>
    <p:extLst>
      <p:ext uri="{BB962C8B-B14F-4D97-AF65-F5344CB8AC3E}">
        <p14:creationId xmlns:p14="http://schemas.microsoft.com/office/powerpoint/2010/main" val="368839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7B6D-0A29-7E99-7F04-2EDF1491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777240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2471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Businesses struggle to understand customer behavior from large, unstructured sales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4475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Manual segmentation is time-consuming, error-prone, and non-scalable.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6479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Most SMBs lack access to affordable enterprise BI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49424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OBJECTIVES: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9689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Build an automated, AI-driven customer segmentation engine accessible via a browser.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91693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Implement K-Means clustering to discover behavioral personas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3697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Forecast Customer Lifetime Value (CLV) to prioritize high-value segments.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Provide a multi-tenant SaaS architecture with secure, isolated workspaces per business.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7705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Deliver actionable insights through 12 specialized analytics modules.</a:t>
            </a:r>
          </a:p>
        </p:txBody>
      </p:sp>
    </p:spTree>
    <p:extLst>
      <p:ext uri="{BB962C8B-B14F-4D97-AF65-F5344CB8AC3E}">
        <p14:creationId xmlns:p14="http://schemas.microsoft.com/office/powerpoint/2010/main" val="389655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C7D7-127F-D62B-8288-5595E158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Technologies &amp;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FRONTEND /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Streamlit 1.42+ — Web App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HTML/CSS (Custom) — UI Theming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Plotly — Interactive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Seaborn / Matplotlib — Statistical Plots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96312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9631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BACKEND /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254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Python 3.13 — Core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272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scikit-learn — ML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290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Pandas / NumPy — Data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3075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bcrypt — Secure Password Hashing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604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576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DEVOPS /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48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Git + GitHub (Qylatrix/segvantiq)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48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VS Code —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Virtual Environment (venv)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480" y="20574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PowerShell — Deployment 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6040" y="2496312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FUTURE (Phase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480" y="277063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Supabase — PostgreSQL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480" y="307238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JWT — Stateless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480" y="337413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REST API — External Data Connectors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480" y="3675887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Docker — Containerization</a:t>
            </a:r>
          </a:p>
        </p:txBody>
      </p:sp>
    </p:spTree>
    <p:extLst>
      <p:ext uri="{BB962C8B-B14F-4D97-AF65-F5344CB8AC3E}">
        <p14:creationId xmlns:p14="http://schemas.microsoft.com/office/powerpoint/2010/main" val="273334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944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8C8"/>
                </a:solidFill>
                <a:latin typeface="Calibri"/>
              </a:rPr>
              <a:t>Multi-Tenant SaaS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8" name="Picture 7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777240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77240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LAYER 1 — PRESENTATION (Frontend):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24712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Streamlit Web App served at localhost:8501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Custom CSS theming (Inter + Plus Jakarta Sans fonts)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09928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Responsive landing page with auth + feature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67128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67128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LAYER 2 — AUTHENTICATION: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bcrypt password hashing (enterprise-grade security)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07208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Per-tenant session isolation via st.session_state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9815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User registration → workspace initialization → dashboard redirect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557015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LAYER 3 — ANALYTICS ENGINE (12 Modules):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77055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Data ingestion: CSV upload → pandas 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9663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Preprocessing: Missing value handling, feature encoding,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ML Pipeline: K-Means → Persona labeling → CLV forecasting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19472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19472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LAYER 4 — DATA (Current Phase 1):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66944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JSON-based user store (users.json)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59552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Session-cached data per user namespace</a:t>
            </a:r>
          </a:p>
        </p:txBody>
      </p:sp>
    </p:spTree>
    <p:extLst>
      <p:ext uri="{BB962C8B-B14F-4D97-AF65-F5344CB8AC3E}">
        <p14:creationId xmlns:p14="http://schemas.microsoft.com/office/powerpoint/2010/main" val="92100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Features &amp; Analytics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CORE ANALYTICS MODULES: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Cluster Analysis — K-Means with 3-8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Customer Profiling — AI persona labeling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CLV Forecasting — Revenue prediction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Churn Prediction — At-risk customer 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RFM Analysis — Recency, Frequency, Monetary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6090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Cohort Analysis — Retention by acquisition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604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76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ADVANCED MODULES: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Market Basket — Association rule mining (Apriori)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Anomaly Detection — Isolation Forest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Geographic Distribution — Regional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20574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Time Series — Seasonal trend 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480" y="235915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Qyla AI Chat — NLP-powered business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480" y="266090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Platform Guide — Integrated technical docs</a:t>
            </a:r>
          </a:p>
        </p:txBody>
      </p:sp>
    </p:spTree>
    <p:extLst>
      <p:ext uri="{BB962C8B-B14F-4D97-AF65-F5344CB8AC3E}">
        <p14:creationId xmlns:p14="http://schemas.microsoft.com/office/powerpoint/2010/main" val="408629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Machine Learning Models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777240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1. K-MEANS CLUSTERING (Primary Engine):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24712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Segments customers into 3–8 behavioural 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Uses Elbow Method to auto-select optimal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Features: Revenue, Frequency, Avg. Order Value,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02536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Output: Named personas (High-Value, Growth Potential, At-Risk, etc.)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59736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2. LINEAR REGRESSION (CLV Forecasting):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07208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Predicts 6-month and 12-month Customer Lifetime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99815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Trained per tenant's uploaded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5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3. ISOLATION FOREST (Anomaly Detection):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5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Detects outlier transactions and suspicious purchase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9663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Contamination parameter auto-tuned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2686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4. APRIORI ALGORITHM (Market Basket Analysis):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3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Discovers product association rules (support, confidence, lift)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39512"/>
            <a:ext cx="1127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→ Generates cross-sell and upsell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799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Weekly Progress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WEEK 1: 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Installed Python 3.13, VS Code, venv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9903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Initialized GitHub repo (Qylatrix/segvantiq)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0078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Defined project scope and SaaS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39696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WEEK 2: Core ML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14015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Implemented K-Means clustering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Built preprocessing module (src/preprocess.py)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1752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Integrated Plotly for interactive visualizations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456432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WEEK 3: Multi-Tenant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3075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bcrypt password hashing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3250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Per-user session isolation (st.cache_data by username)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3425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JSON-based user registration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WEEK 4: Dashboard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109728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Added 12-tab analytics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480" y="139903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CLV Forecasting, RFM, Cohort modules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480" y="170078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Market Basket (Apriori) + Anomaly Detection added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00253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Qyla AI Chat interface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6040" y="2441448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WEEK 5 (Current): Stabilization &amp; 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480" y="271576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Fixed critical ParseError in Dashboard.py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480" y="301752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Resolved bcrypt ModuleNotFoundError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480" y="331927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Full professional UI redesign (white theme)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480" y="362102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Edge-to-edge layout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480" y="392277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Comprehensive documentation (Weekly Reports)</a:t>
            </a:r>
          </a:p>
        </p:txBody>
      </p:sp>
    </p:spTree>
    <p:extLst>
      <p:ext uri="{BB962C8B-B14F-4D97-AF65-F5344CB8AC3E}">
        <p14:creationId xmlns:p14="http://schemas.microsoft.com/office/powerpoint/2010/main" val="69022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Challenges Faced &amp; Solutions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1: Parse Tree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Indentation errors in Dashboard.py caused the entire 12-tab analytics engine to fail rendering.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Manual code sweep of 500+ lines; re-indented all conditional blocks; restored parse tree.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8308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2: Missing bcrypt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5740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Production environment lacked bcrypt, crashing the auth flow on startup.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Pinned bcrypt==4.1.2 in requirements.txt; installed in venv; verified hash/verify cycle.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19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3: Dead Space in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01751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Default Streamlit column layout left 30% of screen as empty white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9183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Removed [1,4,1] column constraint; injected .block-container CSS padding overrides.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040" y="82296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4: Port Occupancy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040" y="109728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Multiple zombie Streamlit processes blocked port 8501 between dev cycles.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6040" y="137160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PowerShell netstat + taskkill script to terminate all Python processes before restart.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178308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5: Multi-Tenant Data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05740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Ensuring users from different businesses never see each other's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6040" y="2331720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@st.cache_data(hash_funcs) keyed by username; separate data namespace per tenant.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040" y="274319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CHALLENGE 6: Logo on Dark/Light Backgrounds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6040" y="301751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Problem: Brand logo (dark navy text) invisible on dark theme backgrounds.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6040" y="3291839"/>
            <a:ext cx="568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Calibri"/>
              </a:rPr>
              <a:t>Solution: Provided removebg transparent version; white background theme chosen for visibility.</a:t>
            </a:r>
          </a:p>
        </p:txBody>
      </p:sp>
    </p:spTree>
    <p:extLst>
      <p:ext uri="{BB962C8B-B14F-4D97-AF65-F5344CB8AC3E}">
        <p14:creationId xmlns:p14="http://schemas.microsoft.com/office/powerpoint/2010/main" val="618770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777240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PLATFORM PERFORMANCE: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2471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Successfully deployed on localhost:8501 with zero critical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4475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12 fully functional analytics modules across 12 dashboard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6479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Multi-tenant authentication: 100% data isolation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8483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Average dashboard load time: &lt; 3 seconds for standard CSV (&lt; 10,000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6946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ANALYTICAL OUTCOMES (on sample retail dataset):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8950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K-Means identified 5 distinct customer personas from 8,000+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0954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CLV Forecasting accuracy: R² = 0.87 on test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2958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Anomaly Detection flagged 3.2% of transactions as outliers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849624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Market Basket: 47 high-confidence association rules discovered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34256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34256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ACADEMIC DELIVERABLES: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81728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5 comprehensive weekly progress reports submitted on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01768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GitHub repository: 50+ commits, fully documented codebase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321807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Live demo-ready platform for April 6 internship review</a:t>
            </a:r>
          </a:p>
        </p:txBody>
      </p:sp>
    </p:spTree>
    <p:extLst>
      <p:ext uri="{BB962C8B-B14F-4D97-AF65-F5344CB8AC3E}">
        <p14:creationId xmlns:p14="http://schemas.microsoft.com/office/powerpoint/2010/main" val="1755965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Future Roadmap —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3160" y="777240"/>
            <a:ext cx="18288" cy="5760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DATABASE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Supabase (PostgreSQL)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Row-Level Security (RLS) for tenant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Persistent CSV dataset storage per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Real-time data sync via Supabase Realtime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96312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9631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AUTHENTICATION UPGRADE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254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JWT-based stateless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272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OAuth2 (Google/GitHub login)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2900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Role-based access control (Admin/Analyst/Viewer)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30752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API key management for enterprise clients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6040" y="8229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5768" y="8229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API &amp;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480" y="11521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REST API endpoints for external data 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480" y="14538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Webhook support for real-time sales 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17556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CRM integrations (Salesforce, HubSpot)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6040" y="21945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5768" y="21945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UI &amp;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480" y="25237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Mobile-responsive layouts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480" y="28254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Lazy-loading for heavy analytics tabs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480" y="31272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Cold-start optimization (&lt; 1.5s target)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6040" y="3566160"/>
            <a:ext cx="45720" cy="23774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5768" y="3566160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Calibri"/>
              </a:rPr>
              <a:t>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480" y="3895344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Docker containerization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480" y="4197096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Streamlit Cloud / AWS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480" y="4498848"/>
            <a:ext cx="559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Custom domain: segvantiq.qylatrix.com</a:t>
            </a:r>
          </a:p>
        </p:txBody>
      </p:sp>
    </p:spTree>
    <p:extLst>
      <p:ext uri="{BB962C8B-B14F-4D97-AF65-F5344CB8AC3E}">
        <p14:creationId xmlns:p14="http://schemas.microsoft.com/office/powerpoint/2010/main" val="406673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C6A5-3B80-425C-D3EE-31BC73CB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16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Learnings from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80" y="91440"/>
            <a:ext cx="68580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777240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777240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TECHNICAL SKILLS GAINED: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2471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End-to-end ML pipeline development: data ingestion → preprocessing → modelling →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4475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SaaS architecture design: multi-tenancy, session isolation, secure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6479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Streamlit advanced patterns: custom CSS injection, caching strategies, multi-page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8483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Python packaging: virtual environments, requirements.txt, dependency pinning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04872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Git workflow: feature branches, commit discipline, GitHub project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9504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89504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PROFESSIONAL SKILLS GAINED: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23697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Agile-style weekly deliverable tracking and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Technical documentation writing (5 comprehensive weekly reports)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7705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Problem diagnosis and systematic debugging under time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197096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Enterprise software design principles: security-first, tenant isolation, scalability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81727"/>
            <a:ext cx="45720" cy="256032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81727"/>
            <a:ext cx="1136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40"/>
                </a:solidFill>
                <a:latin typeface="Calibri"/>
              </a:rPr>
              <a:t>INDUSTRY EXPOSURE: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02919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Understanding of real-world customer analytics use cases in retail, e-commerce, and 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349239"/>
            <a:ext cx="1150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Awareness of enterprise BI tools landscape (Power BI, Tableau) and Python-based alternatives</a:t>
            </a:r>
          </a:p>
        </p:txBody>
      </p:sp>
    </p:spTree>
    <p:extLst>
      <p:ext uri="{BB962C8B-B14F-4D97-AF65-F5344CB8AC3E}">
        <p14:creationId xmlns:p14="http://schemas.microsoft.com/office/powerpoint/2010/main" val="2511584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803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2000" cy="91440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082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8C8"/>
                </a:solidFill>
                <a:latin typeface="Calibri"/>
              </a:rPr>
              <a:t>Pretam Saha  |  Reg: 23BBCCCE111  |  Batch: 10  |  TCS iON Internship 2026</a:t>
            </a:r>
          </a:p>
        </p:txBody>
      </p:sp>
      <p:pic>
        <p:nvPicPr>
          <p:cNvPr id="7" name="Picture 6" descr="segvantiq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137160"/>
            <a:ext cx="96012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7160"/>
            <a:ext cx="926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3200400" cy="54864"/>
          </a:xfrm>
          <a:prstGeom prst="rect">
            <a:avLst/>
          </a:prstGeom>
          <a:solidFill>
            <a:srgbClr val="0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8610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SEGVANTIQ successfully demonstrates how AI-powered customer intelligence can be delivered as a professional SaaS platform — accessible, secure, and analytically powerful.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70732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Over 5 weeks, we built a production-ready analytics engine with: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8204"/>
            <a:ext cx="1127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C8"/>
                </a:solidFill>
                <a:latin typeface="Calibri"/>
              </a:rPr>
              <a:t>✓  12 ML-powered analytics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5676"/>
            <a:ext cx="1127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C8"/>
                </a:solidFill>
                <a:latin typeface="Calibri"/>
              </a:rPr>
              <a:t>✓  Secure multi-tenant bcrypt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3148"/>
            <a:ext cx="1127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C8"/>
                </a:solidFill>
                <a:latin typeface="Calibri"/>
              </a:rPr>
              <a:t>✓  Professional enterprise-grade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60620"/>
            <a:ext cx="1127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C8"/>
                </a:solidFill>
                <a:latin typeface="Calibri"/>
              </a:rPr>
              <a:t>✓  Complete academic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5252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This internship has been a transformative experience in full-stack AI product development, enterprise software engineering, and agile delivery methodology.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29884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Thank you to TCS iON for this invaluable opportunity.</a:t>
            </a:r>
          </a:p>
        </p:txBody>
      </p:sp>
    </p:spTree>
    <p:extLst>
      <p:ext uri="{BB962C8B-B14F-4D97-AF65-F5344CB8AC3E}">
        <p14:creationId xmlns:p14="http://schemas.microsoft.com/office/powerpoint/2010/main" val="363452147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2518</TotalTime>
  <Words>332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shree</dc:creator>
  <cp:lastModifiedBy>Alekhya E</cp:lastModifiedBy>
  <cp:revision>24</cp:revision>
  <dcterms:created xsi:type="dcterms:W3CDTF">2026-03-23T09:19:29Z</dcterms:created>
  <dcterms:modified xsi:type="dcterms:W3CDTF">2026-03-26T06:03:59Z</dcterms:modified>
</cp:coreProperties>
</file>